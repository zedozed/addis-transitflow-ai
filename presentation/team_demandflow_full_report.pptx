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2B2"/>
                </a:solidFill>
              </a:defRPr>
            </a:pPr>
            <a:r>
              <a:t>Addis Ride Demand — Model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0B2B4A"/>
                </a:solidFill>
              </a:defRPr>
            </a:pPr>
            <a:r>
              <a:t>Best model: Ensemble: CatBoost + MLP (blended)</a:t>
            </a:r>
          </a:p>
          <a:p>
            <a:pPr>
              <a:spcAft>
                <a:spcPts val="600"/>
              </a:spcAft>
              <a:defRPr sz="2000">
                <a:solidFill>
                  <a:srgbClr val="0B2B4A"/>
                </a:solidFill>
              </a:defRPr>
            </a:pPr>
            <a:r>
              <a:t>Models compared: 14 (+ grid: 79 cells (13 families × 2 encoders × 3 scalers = 78, plus CatBoost native = 79))</a:t>
            </a:r>
          </a:p>
          <a:p>
            <a:pPr>
              <a:spcAft>
                <a:spcPts val="600"/>
              </a:spcAft>
              <a:defRPr sz="2000">
                <a:solidFill>
                  <a:srgbClr val="0B2B4A"/>
                </a:solidFill>
              </a:defRPr>
            </a:pPr>
            <a:r>
              <a:t>Features: 57  |  Rolling-origin folds: 4</a:t>
            </a:r>
          </a:p>
          <a:p>
            <a:pPr>
              <a:spcAft>
                <a:spcPts val="600"/>
              </a:spcAft>
              <a:defRPr sz="2000">
                <a:solidFill>
                  <a:srgbClr val="0B2B4A"/>
                </a:solidFill>
              </a:defRPr>
            </a:pPr>
            <a:r>
              <a:t>Raw RMSE 8.35 · MAE 5.74 · R² 0.904</a:t>
            </a:r>
          </a:p>
          <a:p>
            <a:pPr>
              <a:spcAft>
                <a:spcPts val="600"/>
              </a:spcAft>
              <a:defRPr sz="2000">
                <a:solidFill>
                  <a:srgbClr val="0B2B4A"/>
                </a:solidFill>
              </a:defRPr>
            </a:pPr>
            <a:r>
              <a:t>Trimmed RMSE 8.35 · R² 0.904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2B2"/>
                </a:solidFill>
              </a:defRPr>
            </a:pPr>
            <a:r>
              <a:t>1 · Problem, data &amp; clock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B2B4A"/>
                </a:solidFill>
              </a:defRPr>
            </a:pPr>
            <a:r>
              <a:t>Forecast hourly trips, 12 Addis zones, 1–14 Nov 2025 (4,032 zone-hours).</a:t>
            </a:r>
          </a:p>
          <a:p>
            <a:pPr>
              <a:spcAft>
                <a:spcPts val="600"/>
              </a:spcAft>
              <a:defRPr sz="1600">
                <a:solidFill>
                  <a:srgbClr val="0B2B4A"/>
                </a:solidFill>
              </a:defRPr>
            </a:pPr>
            <a:r>
              <a:t>Three raw tables: trips (~85k rows), hourly weather (~7.5k), events calendar (165).</a:t>
            </a:r>
          </a:p>
          <a:p>
            <a:pPr>
              <a:spcAft>
                <a:spcPts val="600"/>
              </a:spcAft>
              <a:defRPr sz="1600">
                <a:solidFill>
                  <a:srgbClr val="0B2B4A"/>
                </a:solidFill>
              </a:defRPr>
            </a:pPr>
            <a:r>
              <a:t>Mixed weather clock: 6,806 UTC 'Z' rows vs 732 local DD/MM rows.</a:t>
            </a:r>
          </a:p>
          <a:p>
            <a:pPr>
              <a:spcAft>
                <a:spcPts val="600"/>
              </a:spcAft>
              <a:defRPr sz="1600">
                <a:solidFill>
                  <a:srgbClr val="0B2B4A"/>
                </a:solidFill>
              </a:defRPr>
            </a:pPr>
            <a:r>
              <a:t>Proof: 659/732 local rows coincide with a Z-row shifted +3 h; temp peaks 15:00 EAT.</a:t>
            </a:r>
          </a:p>
          <a:p>
            <a:pPr>
              <a:spcAft>
                <a:spcPts val="600"/>
              </a:spcAft>
              <a:defRPr sz="1600">
                <a:solidFill>
                  <a:srgbClr val="0B2B4A"/>
                </a:solidFill>
              </a:defRPr>
            </a:pPr>
            <a:r>
              <a:t>One row = one zone + one hour; row count invariant across both joins (84,614).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2B2"/>
                </a:solidFill>
              </a:defRPr>
            </a:pPr>
            <a:r>
              <a:t>2 · Features (how many, which)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B2B4A"/>
                </a:solidFill>
              </a:defRPr>
            </a:pPr>
            <a:r>
              <a:t>57 features: events 17, history 15, calendar 11, weather 11, trend 2, zone 1.</a:t>
            </a:r>
          </a:p>
          <a:p>
            <a:pPr>
              <a:spcAft>
                <a:spcPts val="600"/>
              </a:spcAft>
              <a:defRPr sz="1600">
                <a:solidFill>
                  <a:srgbClr val="0B2B4A"/>
                </a:solidFill>
              </a:defRPr>
            </a:pPr>
            <a:r>
              <a:t>Lags: lag_336h (14-day same-slot lag), lag_672h (28-day same-slot lag)  →  14-day &amp; 28-day same-slot history.</a:t>
            </a:r>
          </a:p>
          <a:p>
            <a:pPr>
              <a:spcAft>
                <a:spcPts val="600"/>
              </a:spcAft>
              <a:defRPr sz="1600">
                <a:solidFill>
                  <a:srgbClr val="0B2B4A"/>
                </a:solidFill>
              </a:defRPr>
            </a:pPr>
            <a:r>
              <a:t>Rolling rain: rain_3h_sum, rain_6h_sum, rain_24h_sum.</a:t>
            </a:r>
          </a:p>
          <a:p>
            <a:pPr>
              <a:spcAft>
                <a:spcPts val="600"/>
              </a:spcAft>
              <a:defRPr sz="1600">
                <a:solidFill>
                  <a:srgbClr val="0B2B4A"/>
                </a:solidFill>
              </a:defRPr>
            </a:pPr>
            <a:r>
              <a:t>Recent windows: hist_zone_recent_7d, hist_zone_recent_14d, hist_zone_recent_28d, hist_zone_recent_56d.</a:t>
            </a:r>
          </a:p>
          <a:p>
            <a:pPr>
              <a:spcAft>
                <a:spcPts val="600"/>
              </a:spcAft>
              <a:defRPr sz="1600">
                <a:solidFill>
                  <a:srgbClr val="0B2B4A"/>
                </a:solidFill>
              </a:defRPr>
            </a:pPr>
            <a:r>
              <a:t>Short 24/48 h lags excluded — unknown beyond day 1 of a 14-day horizon.</a:t>
            </a:r>
          </a:p>
          <a:p>
            <a:pPr>
              <a:spcAft>
                <a:spcPts val="600"/>
              </a:spcAft>
              <a:defRPr sz="1600">
                <a:solidFill>
                  <a:srgbClr val="0B2B4A"/>
                </a:solidFill>
              </a:defRPr>
            </a:pPr>
            <a:r>
              <a:t>Operational columns (drivers/wait/fare) excluded — consequences, not causes.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2B2"/>
                </a:solidFill>
              </a:defRPr>
            </a:pPr>
            <a:r>
              <a:t>3 · Baselines (D1)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B2B4A"/>
                </a:solidFill>
              </a:defRPr>
            </a:pPr>
            <a:r>
              <a:t>Mean predictor: RMSE 27.54, MAE 20.69, R² -0.038.</a:t>
            </a:r>
          </a:p>
          <a:p>
            <a:pPr>
              <a:spcAft>
                <a:spcPts val="600"/>
              </a:spcAft>
              <a:defRPr sz="1600">
                <a:solidFill>
                  <a:srgbClr val="0B2B4A"/>
                </a:solidFill>
              </a:defRPr>
            </a:pPr>
            <a:r>
              <a:t>Seasonal-naive (zone × dow × hour): RMSE 11.30, MAE 7.36, R² 0.825.</a:t>
            </a:r>
          </a:p>
          <a:p>
            <a:pPr>
              <a:spcAft>
                <a:spcPts val="600"/>
              </a:spcAft>
              <a:defRPr sz="1600">
                <a:solidFill>
                  <a:srgbClr val="0B2B4A"/>
                </a:solidFill>
              </a:defRPr>
            </a:pPr>
            <a:r>
              <a:t>Trimmed seasonal-naive RMSE 11.30.</a:t>
            </a:r>
          </a:p>
          <a:p>
            <a:pPr>
              <a:spcAft>
                <a:spcPts val="600"/>
              </a:spcAft>
              <a:defRPr sz="1600">
                <a:solidFill>
                  <a:srgbClr val="0B2B4A"/>
                </a:solidFill>
              </a:defRPr>
            </a:pPr>
            <a:r>
              <a:t>Best model beats the seasonal-naive RMSE by 26.1%.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2B2"/>
                </a:solidFill>
              </a:defRPr>
            </a:pPr>
            <a:r>
              <a:t>4 · Model comparison (D2)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B2B4A"/>
                </a:solidFill>
              </a:defRPr>
            </a:pPr>
            <a:r>
              <a:t>14 model families + 2 baselines ranked.</a:t>
            </a:r>
          </a:p>
          <a:p>
            <a:pPr>
              <a:spcAft>
                <a:spcPts val="600"/>
              </a:spcAft>
              <a:defRPr sz="1600">
                <a:solidFill>
                  <a:srgbClr val="0B2B4A"/>
                </a:solidFill>
              </a:defRPr>
            </a:pPr>
            <a:r>
              <a:t>Extended experiment: 79 cells (13 families × 2 encoders × 3 scalers = 78, plus CatBoost native = 79).</a:t>
            </a:r>
          </a:p>
          <a:p>
            <a:pPr>
              <a:spcAft>
                <a:spcPts val="600"/>
              </a:spcAft>
              <a:defRPr sz="1600">
                <a:solidFill>
                  <a:srgbClr val="0B2B4A"/>
                </a:solidFill>
              </a:defRPr>
            </a:pPr>
            <a:r>
              <a:t>Winner: Ensemble: CatBoost + MLP (blended).</a:t>
            </a:r>
          </a:p>
          <a:p>
            <a:pPr>
              <a:spcAft>
                <a:spcPts val="600"/>
              </a:spcAft>
              <a:defRPr sz="1600">
                <a:solidFill>
                  <a:srgbClr val="0B2B4A"/>
                </a:solidFill>
              </a:defRPr>
            </a:pPr>
            <a:r>
              <a:t>Boosted trees &amp; MLP cluster within ~2%; linear/KNN are clearly worse.</a:t>
            </a:r>
          </a:p>
          <a:p>
            <a:pPr>
              <a:spcAft>
                <a:spcPts val="600"/>
              </a:spcAft>
              <a:defRPr sz="1600">
                <a:solidFill>
                  <a:srgbClr val="0B2B4A"/>
                </a:solidFill>
              </a:defRPr>
            </a:pPr>
            <a:r>
              <a:t>CatBoost + MLP make the least-correlated errors → the blend wins.</a:t>
            </a:r>
          </a:p>
        </p:txBody>
      </p:sp>
      <p:pic>
        <p:nvPicPr>
          <p:cNvPr id="4" name="Picture 3" descr="fig10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840480"/>
            <a:ext cx="5669280" cy="25849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2B2"/>
                </a:solidFill>
              </a:defRPr>
            </a:pPr>
            <a:r>
              <a:t>5 · Ablation (D5)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B2B4A"/>
                </a:solidFill>
              </a:defRPr>
            </a:pPr>
            <a:r>
              <a:t>4 configurations on identical splits:</a:t>
            </a:r>
          </a:p>
          <a:p>
            <a:pPr>
              <a:spcAft>
                <a:spcPts val="600"/>
              </a:spcAft>
              <a:defRPr sz="1600">
                <a:solidFill>
                  <a:srgbClr val="0B2B4A"/>
                </a:solidFill>
              </a:defRPr>
            </a:pPr>
            <a:r>
              <a:t>calendar+zone+trend: RMSE 9.663, trimmed R² 0.8722</a:t>
            </a:r>
          </a:p>
          <a:p>
            <a:pPr>
              <a:spcAft>
                <a:spcPts val="600"/>
              </a:spcAft>
              <a:defRPr sz="1600">
                <a:solidFill>
                  <a:srgbClr val="0B2B4A"/>
                </a:solidFill>
              </a:defRPr>
            </a:pPr>
            <a:r>
              <a:t>calendar+zone+trend+weather: RMSE 9.283, trimmed R² 0.8820</a:t>
            </a:r>
          </a:p>
          <a:p>
            <a:pPr>
              <a:spcAft>
                <a:spcPts val="600"/>
              </a:spcAft>
              <a:defRPr sz="1600">
                <a:solidFill>
                  <a:srgbClr val="0B2B4A"/>
                </a:solidFill>
              </a:defRPr>
            </a:pPr>
            <a:r>
              <a:t>calendar+zone+trend+events: RMSE 8.720, trimmed R² 0.8959</a:t>
            </a:r>
          </a:p>
          <a:p>
            <a:pPr>
              <a:spcAft>
                <a:spcPts val="600"/>
              </a:spcAft>
              <a:defRPr sz="1600">
                <a:solidFill>
                  <a:srgbClr val="0B2B4A"/>
                </a:solidFill>
              </a:defRPr>
            </a:pPr>
            <a:r>
              <a:t>calendar+zone+trend+weather+events: RMSE 8.386, trimmed R² 0.9037</a:t>
            </a:r>
          </a:p>
          <a:p>
            <a:pPr>
              <a:spcAft>
                <a:spcPts val="600"/>
              </a:spcAft>
              <a:defRPr sz="1600">
                <a:solidFill>
                  <a:srgbClr val="0B2B4A"/>
                </a:solidFill>
              </a:defRPr>
            </a:pPr>
            <a:r>
              <a:t>Both joins (weather + events) improve the score → both were worth the effort.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2B2"/>
                </a:solidFill>
              </a:defRPr>
            </a:pPr>
            <a:r>
              <a:t>6 · Rolling-origin validation (D3)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0B2B4A"/>
                </a:solidFill>
              </a:defRPr>
            </a:pPr>
            <a:r>
              <a:t>4 expanding folds, 14-day validation windows:</a:t>
            </a:r>
          </a:p>
          <a:p>
            <a:pPr>
              <a:spcAft>
                <a:spcPts val="600"/>
              </a:spcAft>
              <a:defRPr sz="1500">
                <a:solidFill>
                  <a:srgbClr val="0B2B4A"/>
                </a:solidFill>
              </a:defRPr>
            </a:pPr>
            <a:r>
              <a:t>Model RMSE 8.926 ± 0.660.</a:t>
            </a:r>
          </a:p>
          <a:p>
            <a:pPr>
              <a:spcAft>
                <a:spcPts val="600"/>
              </a:spcAft>
              <a:defRPr sz="1500">
                <a:solidFill>
                  <a:srgbClr val="0B2B4A"/>
                </a:solidFill>
              </a:defRPr>
            </a:pPr>
            <a:r>
              <a:t>Seasonal-naive RMSE 11.782.</a:t>
            </a:r>
          </a:p>
          <a:p>
            <a:pPr>
              <a:spcAft>
                <a:spcPts val="600"/>
              </a:spcAft>
              <a:defRPr sz="1500">
                <a:solidFill>
                  <a:srgbClr val="0B2B4A"/>
                </a:solidFill>
              </a:defRPr>
            </a:pPr>
            <a:r>
              <a:t>2025-07-01: model 8.87 | naive 10.73</a:t>
            </a:r>
          </a:p>
          <a:p>
            <a:pPr>
              <a:spcAft>
                <a:spcPts val="600"/>
              </a:spcAft>
              <a:defRPr sz="1500">
                <a:solidFill>
                  <a:srgbClr val="0B2B4A"/>
                </a:solidFill>
              </a:defRPr>
            </a:pPr>
            <a:r>
              <a:t>2025-08-05: model 8.68 | naive 11.43</a:t>
            </a:r>
          </a:p>
          <a:p>
            <a:pPr>
              <a:spcAft>
                <a:spcPts val="600"/>
              </a:spcAft>
              <a:defRPr sz="1500">
                <a:solidFill>
                  <a:srgbClr val="0B2B4A"/>
                </a:solidFill>
              </a:defRPr>
            </a:pPr>
            <a:r>
              <a:t>2025-09-10: model 9.85 | naive 13.87</a:t>
            </a:r>
          </a:p>
          <a:p>
            <a:pPr>
              <a:spcAft>
                <a:spcPts val="600"/>
              </a:spcAft>
              <a:defRPr sz="1500">
                <a:solidFill>
                  <a:srgbClr val="0B2B4A"/>
                </a:solidFill>
              </a:defRPr>
            </a:pPr>
            <a:r>
              <a:t>2025-10-17: model 8.30 | naive 11.11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72B2"/>
                </a:solidFill>
              </a:defRPr>
            </a:pPr>
            <a:r>
              <a:t>7 · Error analysis, score &amp;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0B2B4A"/>
                </a:solidFill>
              </a:defRPr>
            </a:pPr>
            <a:r>
              <a:t>Largest residuals are unlisted crowding events &amp; evening-peak timing (not in the calendar).</a:t>
            </a:r>
          </a:p>
          <a:p>
            <a:pPr>
              <a:spcAft>
                <a:spcPts val="600"/>
              </a:spcAft>
              <a:defRPr sz="1600">
                <a:solidFill>
                  <a:srgbClr val="0B2B4A"/>
                </a:solidFill>
              </a:defRPr>
            </a:pPr>
            <a:r>
              <a:t>Held-out fit over every zone-hour: R² 0.904.</a:t>
            </a:r>
          </a:p>
          <a:p>
            <a:pPr>
              <a:spcAft>
                <a:spcPts val="600"/>
              </a:spcAft>
              <a:defRPr sz="1600">
                <a:solidFill>
                  <a:srgbClr val="0B2B4A"/>
                </a:solidFill>
              </a:defRPr>
            </a:pPr>
            <a:r>
              <a:t>D9: a typical zone-hour is missed by ~5.7 trips.</a:t>
            </a:r>
          </a:p>
          <a:p>
            <a:pPr>
              <a:spcAft>
                <a:spcPts val="600"/>
              </a:spcAft>
              <a:defRPr sz="1600">
                <a:solidFill>
                  <a:srgbClr val="0B2B4A"/>
                </a:solidFill>
              </a:defRPr>
            </a:pPr>
            <a:r>
              <a:t>Demo (E): streamlit run app/app.py — zone + date → 24-h curve, drivers, fares.</a:t>
            </a:r>
          </a:p>
          <a:p>
            <a:pPr>
              <a:spcAft>
                <a:spcPts val="600"/>
              </a:spcAft>
              <a:defRPr sz="1600">
                <a:solidFill>
                  <a:srgbClr val="0B2B4A"/>
                </a:solidFill>
              </a:defRPr>
            </a:pPr>
            <a:r>
              <a:t>Next: quantile prediction intervals; a road-traffic feed for the evening peak.</a:t>
            </a:r>
          </a:p>
        </p:txBody>
      </p:sp>
      <p:pic>
        <p:nvPicPr>
          <p:cNvPr id="4" name="Picture 3" descr="fig12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2377440"/>
            <a:ext cx="5669280" cy="32805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